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Master" Type="http://schemas.openxmlformats.org/officeDocument/2006/relationships/slideMaster" Target="slideMasters/slideMaster1.xml"/>
  <Relationship Id="rIdTheme" Type="http://schemas.openxmlformats.org/officeDocument/2006/relationships/theme" Target="theme/theme1.xml"/>
  <Relationship Id="rIdSlide1" Type="http://schemas.openxmlformats.org/officeDocument/2006/relationships/slide" Target="slides/slide1.xml"/>
  <Relationship Id="rIdSlide2" Type="http://schemas.openxmlformats.org/officeDocument/2006/relationships/slide" Target="slides/slide2.xml"/>
  <Relationship Id="rIdSlide3" Type="http://schemas.openxmlformats.org/officeDocument/2006/relationships/slide" Target="slides/slide3.xml"/>
  <Relationship Id="rIdSlide4" Type="http://schemas.openxmlformats.org/officeDocument/2006/relationships/slide" Target="slides/slide4.xml"/>
  <Relationship Id="rIdSlide5" Type="http://schemas.openxmlformats.org/officeDocument/2006/relationships/slide" Target="slides/slide5.xml"/>
  <Relationship Id="rIdSlide6" Type="http://schemas.openxmlformats.org/officeDocument/2006/relationships/slide" Target="slides/slide6.xml"/>
  <Relationship Id="rIdSlide7" Type="http://schemas.openxmlformats.org/officeDocument/2006/relationships/slide" Target="slides/slide7.xml"/>
  <Relationship Id="rIdSlide8" Type="http://schemas.openxmlformats.org/officeDocument/2006/relationships/slide" Target="slides/slide8.xml"/>
  <Relationship Id="rIdSlide9" Type="http://schemas.openxmlformats.org/officeDocument/2006/relationships/slide" Target="slides/slide9.xml"/>
  <Relationship Id="rIdSlide10" Type="http://schemas.openxmlformats.org/officeDocument/2006/relationships/slide" Target="slides/slide10.xml"/>
  <Relationship Id="rIdSlide11" Type="http://schemas.openxmlformats.org/officeDocument/2006/relationships/slide" Target="slides/slide11.xml"/>
  <Relationship Id="rIdSlide12" Type="http://schemas.openxmlformats.org/officeDocument/2006/relationships/slide" Target="slides/slide12.xml"/>
</Relationships>

</file>

<file path=ppt/slideLayouts/_rels/slideLayout1.xml.rels><?xml version="1.0" encoding="UTF-8" standalone="yes"?>
<Relationships xmlns="http://schemas.openxmlformats.org/package/2006/relationships">
  <Relationship Id="rIdMaster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Layout1" Type="http://schemas.openxmlformats.org/officeDocument/2006/relationships/slideLayout" Target="../slideLayouts/slideLayout1.xml"/>
  <Relationship Id="rIdTheme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0" y="6458000"/>
            <a:ext cx="12192000" cy="400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Hero"/>
          <p:cNvSpPr txBox="1"/>
          <p:nvPr/>
        </p:nvSpPr>
        <p:spPr>
          <a:xfrm>
            <a:off x="914400" y="1600000"/>
            <a:ext cx="10363200" cy="4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7200" b="1" dirty="0">
                <a:solidFill>
                  <a:srgbClr val="FFFFFF"/>
                </a:solidFill>
                <a:latin typeface="Calibri"/>
              </a:rPr>
              <a:t>QualBot</a:t>
            </a:r>
          </a:p>
          <a:p>
            <a:pPr algn="l">
              <a:spcBef>
                <a:spcPts val="600"/>
              </a:spcBef>
              <a:buNone/>
            </a:pPr>
            <a:r>
              <a:rPr lang="en-US" sz="2800" b="1" dirty="0">
                <a:solidFill>
                  <a:srgbClr val="FFFFFF"/>
                </a:solidFill>
                <a:latin typeface="Calibri"/>
              </a:rPr>
              <a:t>AI-Powered Lead Qualification Chatbot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2000" dirty="0">
                <a:solidFill>
                  <a:srgbClr val="E0E7FF"/>
                </a:solidFill>
                <a:latin typeface="Calibri"/>
              </a:rPr>
              <a:t>Progress Report  •  October 2026</a:t>
            </a:r>
          </a:p>
          <a:p>
            <a:pPr algn="l">
              <a:spcBef>
                <a:spcPts val="200"/>
              </a:spcBef>
              <a:buNone/>
            </a:pPr>
            <a:endParaRPr lang="en-US" sz="1800"/>
          </a:p>
          <a:p>
            <a:pPr algn="l">
              <a:spcBef>
                <a:spcPts val="300"/>
              </a:spcBef>
              <a:buNone/>
            </a:pPr>
            <a:r>
              <a:rPr lang="en-US" sz="2000" dirty="0">
                <a:solidFill>
                  <a:srgbClr val="E0E7FF"/>
                </a:solidFill>
                <a:latin typeface="Calibri"/>
              </a:rPr>
              <a:t>A conversational agent that qualifies sales leads in real time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2000" dirty="0">
                <a:solidFill>
                  <a:srgbClr val="E0E7FF"/>
                </a:solidFill>
                <a:latin typeface="Calibri"/>
              </a:rPr>
              <a:t>using Google Gemini + the BANT framework.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Sales teams waste hours on unqualified website visitors.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Manual BANT discovery (Budget, Authority, Need, Timeline) is slow and inconsistent.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Hot leads cool off before anyone follows up.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Goal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Automate the first-touch qualification conversation and route only hot leads to humans.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Our Solution — QualBot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A chat widget that talks to visitors, extracts BANT data from their replies, and scores the lead live.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Key ideas: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Conversational: one BANT question per turn, friendly tone.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Structured: Gemini returns a strict Pydantic BANT schema (not free text).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Actionable: hot leads get a Calendly booking button automatically.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Observable: every transcript + score is stored for the sales dashboard.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Backend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FastAPI  •  Pydantic  •  SQLite  •  Uvicorn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Google Gemini (google-genai)  •  python-dotenv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Frontend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React 18  •  Vite 6  •  Tailwind CSS 4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LocalStorage session persistence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Dev / Ops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Virtualenv, .env secrets, CORS allow-list, Git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Visitor  →  React ChatWidget  →  POST /chat (FastAPI)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Inside /chat the backend: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Loads prior transcript from SQLite (db.py).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Calls Gemini twice: one reply, one structured BANT extraction.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Merges new BANT answers with saved ones (never overwrites with 'unknown').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Scores the lead and classifies tier (hot / warm / cold).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Persists messages + lead row, routes hot leads to Calendly.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Dashboard reads GET /leads and GET /leads/{session_id} for transcripts.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BANT Scoring Model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Weights (total 100)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Need 30  •  Budget 25  •  Timeline 25  •  Authority 20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Category points (multiplier applied to weight)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Budget: confirmed 1.0 / limited 0.6 / none 0.0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Authority: decision_maker 1.0 / influencer 0.6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Need: clear 1.0 / vague 0.6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Timeline: immediate 1.0 / soon 0.6 / long_term 0.3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Tiering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Hot ≥ 70   •   Warm 40–69   •   Cold &lt; 40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Features Delivered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Conversational chat with Gemini, with graceful fallback reply when the API is down.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Structured BANT extraction via Pydantic schema + response_mime_type=application/json.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Multi-model fallback: tries gemini-3.5-flash → 2.5-flash → gemma, with retry.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SQLite persistence of leads and full message transcripts (db.py).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Live lead scorecard: score / tier / BANT badges update after every turn.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Sales dashboard: table of leads + click-through transcript view.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Hot-lead routing: Calendly booking button + console sales alert.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Prompt-injection resilience: system prompt + strict schema output.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Session persistence via localStorage; 'New Chat' starts a fresh lead.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Backend API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GET  /health                 →  liveness check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GET  /leads?limit=&amp;offset=    →  paginated list of leads (newest first)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GET  /leads/{session_id}      →  lead + full transcript + booking action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POST /chat                    →  { reply, bant, score, tier, action }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Request validation via Pydantic (session_id ≤128 chars, message ≤4000).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CORS driven by CORS_ALLOWED_ORIGINS env var (comma-separated).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Frontend UI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Prospect Chat tab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Chat thread with typing indicator and auto-scroll.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Right rail: live Lead Score + tier badge.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BANT panel showing budget / authority / need / timeline with colored states.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'Schedule Meeting' CTA appears when the lead turns hot.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Lead Dashboard tab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Hot / Warm / Cold counters.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Sortable, clickable leads table.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Transcript panel with role-tagged messages and timestamps.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Reliability &amp; Safety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Model fallback chain + retry window so a single bad model does not break /chat.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If Gemini fails for the reply: user sees a safe fallback message, chat keeps working.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If Gemini fails for BANT extraction: previous qualification data is preserved (merge_bant).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Visitor-only transcript is fed into the BANT extractor to limit prompt-injection surface.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System prompt explicitly rejects attempts to change role / rules.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Verified behavior with test_bant.py (budget phrases, mixed-language input, injection probe).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Progress Snapshot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Completed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End-to-end chat → score → persist → dashboard flow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BANT scoring + hot-lead routing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Styled React UI (Tailwind) with session persistence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BANT extraction test harness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In Progress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Tightening prompt + eval cases for edge inputs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Dashboard filters and search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Next Up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Auth for the dashboard, email / Slack alerts on hot leads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Real Calendly API integration (not just a link)</a:t>
            </a:r>
          </a:p>
          <a:p>
            <a:pPr lvl="1" marL="342900" indent="-342900" algn="l">
              <a:spcBef>
                <a:spcPts val="200"/>
              </a:spcBef>
              <a:buFont typeface="Arial" panose="020B0604020202020204" pitchFamily="34" charset="0"/>
              <a:buChar char="–"/>
            </a:pPr>
            <a:r>
              <a:rPr lang="en-US" sz="1600" dirty="0">
                <a:solidFill>
                  <a:srgbClr val="334155"/>
                </a:solidFill>
                <a:latin typeface="Calibri"/>
              </a:rPr>
              <a:t>Deployment (Docker + managed Postgres), analytics, unit tests in CI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2"/>
          <p:cNvSpPr/>
          <p:nvPr/>
        </p:nvSpPr>
        <p:spPr>
          <a:xfrm>
            <a:off x="0" y="0"/>
            <a:ext cx="200000" cy="68580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Accent3"/>
          <p:cNvSpPr/>
          <p:nvPr/>
        </p:nvSpPr>
        <p:spPr>
          <a:xfrm>
            <a:off x="200000" y="0"/>
            <a:ext cx="11992000" cy="9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"/>
          <p:cNvSpPr txBox="1"/>
          <p:nvPr/>
        </p:nvSpPr>
        <p:spPr>
          <a:xfrm>
            <a:off x="500000" y="180000"/>
            <a:ext cx="114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32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Accent5"/>
          <p:cNvSpPr/>
          <p:nvPr/>
        </p:nvSpPr>
        <p:spPr>
          <a:xfrm>
            <a:off x="200000" y="900000"/>
            <a:ext cx="11992000" cy="40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Body"/>
          <p:cNvSpPr txBox="1"/>
          <p:nvPr/>
        </p:nvSpPr>
        <p:spPr>
          <a:xfrm>
            <a:off x="600000" y="1150000"/>
            <a:ext cx="10992000" cy="5258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500"/>
              </a:spcBef>
              <a:buNone/>
            </a:pPr>
            <a:r>
              <a:rPr lang="en-US" sz="2000" b="1" dirty="0">
                <a:solidFill>
                  <a:srgbClr val="4F46E5"/>
                </a:solidFill>
                <a:latin typeface="Calibri"/>
              </a:rPr>
              <a:t>Demo time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Chat tab  →  ask about pricing / timeline  →  watch the score climb.</a:t>
            </a:r>
          </a:p>
          <a:p>
            <a:pPr algn="l">
              <a:spcBef>
                <a:spcPts val="100"/>
              </a:spcBef>
              <a:buNone/>
            </a:pPr>
            <a:endParaRPr lang="en-US" sz="1600"/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Repo: suyash-pratuyash/Qualbot-</a:t>
            </a:r>
          </a:p>
          <a:p>
            <a:pPr marL="342900" indent="-342900" algn="l">
              <a:spcBef>
                <a:spcPts val="25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/>
              </a:rPr>
              <a:t>Questions welcome.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00000" y="6458000"/>
            <a:ext cx="4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l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QualBot — Progress Report</a:t>
            </a:r>
          </a:p>
        </p:txBody>
      </p:sp>
      <p:sp>
        <p:nvSpPr>
          <p:cNvPr id="8" name="Page"/>
          <p:cNvSpPr txBox="1"/>
          <p:nvPr/>
        </p:nvSpPr>
        <p:spPr>
          <a:xfrm>
            <a:off x="10692000" y="6458000"/>
            <a:ext cx="1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137160" tIns="91440" rIns="137160" bIns="91440" anchor="t"/>
          <a:lstStyle/>
          <a:p>
            <a:pPr algn="r">
              <a:spcBef>
                <a:spcPts val="0"/>
              </a:spcBef>
              <a:buNone/>
            </a:pPr>
            <a:r>
              <a:rPr lang="en-US" sz="1000" dirty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lBot">
  <a:themeElements>
    <a:clrScheme name="QualBo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7C3AED"/>
      </a:folHlink>
    </a:clrScheme>
    <a:fontScheme name="QualBo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QualBo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